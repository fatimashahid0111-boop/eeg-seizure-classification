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63" r:id="rId4"/>
    <p:sldId id="267" r:id="rId5"/>
    <p:sldId id="268" r:id="rId6"/>
    <p:sldId id="258" r:id="rId7"/>
    <p:sldId id="280" r:id="rId8"/>
    <p:sldId id="281" r:id="rId9"/>
    <p:sldId id="270" r:id="rId10"/>
    <p:sldId id="269" r:id="rId11"/>
    <p:sldId id="279" r:id="rId12"/>
    <p:sldId id="294" r:id="rId13"/>
    <p:sldId id="283" r:id="rId14"/>
    <p:sldId id="295" r:id="rId15"/>
    <p:sldId id="284" r:id="rId16"/>
    <p:sldId id="292" r:id="rId17"/>
    <p:sldId id="296" r:id="rId18"/>
    <p:sldId id="297" r:id="rId19"/>
    <p:sldId id="298" r:id="rId20"/>
    <p:sldId id="289" r:id="rId21"/>
    <p:sldId id="290" r:id="rId22"/>
    <p:sldId id="265" r:id="rId23"/>
    <p:sldId id="266" r:id="rId24"/>
    <p:sldId id="273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>
      <p:cViewPr varScale="1">
        <p:scale>
          <a:sx n="27" d="100"/>
          <a:sy n="27" d="100"/>
        </p:scale>
        <p:origin x="616" y="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5/8/2026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5/8/2026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0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7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07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9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1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1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5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5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4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2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18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505" y="-2115616"/>
            <a:ext cx="4317032" cy="5040560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for EEG Epileptic Seizure Detection and Classification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352" y="188640"/>
            <a:ext cx="4098175" cy="685800"/>
          </a:xfrm>
        </p:spPr>
        <p:txBody>
          <a:bodyPr>
            <a:norm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AE5BEB4-7843-6EF4-5012-793BFBFEF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837" y="7930"/>
            <a:ext cx="6135465" cy="598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9505" y="3573016"/>
            <a:ext cx="46085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Presented to:</a:t>
            </a:r>
          </a:p>
          <a:p>
            <a:r>
              <a:rPr lang="en-US" dirty="0" smtClean="0"/>
              <a:t>Prof. Dr. </a:t>
            </a:r>
            <a:r>
              <a:rPr lang="en-US" dirty="0" err="1" smtClean="0"/>
              <a:t>Shahzad</a:t>
            </a:r>
            <a:r>
              <a:rPr lang="en-US" dirty="0" smtClean="0"/>
              <a:t> Ahmad Qureshi</a:t>
            </a:r>
          </a:p>
          <a:p>
            <a:endParaRPr lang="en-US" dirty="0"/>
          </a:p>
          <a:p>
            <a:r>
              <a:rPr lang="en-US" b="1" dirty="0" smtClean="0"/>
              <a:t>Team Members:</a:t>
            </a:r>
          </a:p>
          <a:p>
            <a:r>
              <a:rPr lang="en-US" dirty="0" smtClean="0"/>
              <a:t>Amina Akbar</a:t>
            </a:r>
          </a:p>
          <a:p>
            <a:r>
              <a:rPr lang="en-US" dirty="0" smtClean="0"/>
              <a:t>Anza </a:t>
            </a:r>
            <a:r>
              <a:rPr lang="en-US" dirty="0" err="1" smtClean="0"/>
              <a:t>Arooj</a:t>
            </a:r>
            <a:endParaRPr lang="en-US" dirty="0"/>
          </a:p>
          <a:p>
            <a:r>
              <a:rPr lang="en-US" dirty="0" smtClean="0"/>
              <a:t>Fatima </a:t>
            </a:r>
            <a:r>
              <a:rPr lang="en-US" dirty="0" err="1" smtClean="0"/>
              <a:t>Rehman</a:t>
            </a:r>
            <a:endParaRPr lang="en-US" dirty="0" smtClean="0"/>
          </a:p>
          <a:p>
            <a:r>
              <a:rPr lang="en-US" dirty="0" smtClean="0"/>
              <a:t>Fatima </a:t>
            </a:r>
            <a:r>
              <a:rPr lang="en-US" dirty="0" err="1" smtClean="0"/>
              <a:t>Shahid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Epileptic seizure forecasting systems have emerged as a critical area of research due to their potential to significantly improve the quality of life for individuals suffering from epilepsy.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Electroencephalography (EEG) is 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noninvasive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neurophysiological monitoring technique that utilizes an array of electrodes placed on the scalp to record the brain's electrical activity.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detecting and interpreting epileptic seizures from long-duration EEG recordings is highly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labor-intensive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subjective. It typically requires skilled neurophysiologists to visually inspect EEG traces and identify abnormal patterns.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503E03A1-5558-3B80-55AA-BBE7C6F9E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efficient and automated seizure detection and classification system based on EEG signal processing.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inefficiencies associated with manual detection by providing real-time, objective insights into a patient's neurological status.</a:t>
            </a:r>
          </a:p>
        </p:txBody>
      </p:sp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CBE081-7406-E433-A55D-7B7E0200A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4FE5F0-83CB-11F5-328F-038CACD66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Epileptic Seizure Recognition (derived from the Bonn University EEG database).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11,500 rows (samples) and 179 columns.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(X1 to X178):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raw EEG time-series data. Each row contains 178 electrical amplitude readings sampled at 178 Hz over exactly 1 second.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(y):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5 balanced classes (2,300 samples each):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1: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Epileptic seizure activity (Target class).</a:t>
            </a:r>
          </a:p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Classes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2-5: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Various baseline/normal states (e.g.,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area,healthy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area, eyes closed, eyes open).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56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" t="23816" r="18317" b="14530"/>
          <a:stretch/>
        </p:blipFill>
        <p:spPr>
          <a:xfrm>
            <a:off x="0" y="-143611"/>
            <a:ext cx="12192000" cy="6313783"/>
          </a:xfr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A0F4AB-A276-B866-FEB0-E3B73129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3284984"/>
            <a:ext cx="4176464" cy="1450757"/>
          </a:xfrm>
        </p:spPr>
        <p:txBody>
          <a:bodyPr/>
          <a:lstStyle/>
          <a:p>
            <a:r>
              <a:rPr lang="en-GB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42812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Graph(s)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EBBF79AB-DF70-8000-A6F5-F3108AD0A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119" y="1846263"/>
            <a:ext cx="603408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4E6733A-DD1B-0355-D58E-25B6B707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AAEA7C-4835-9BC8-C23B-27265337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1B8D8C-D2CC-99C5-301F-F2B91C300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EEG dataset into a data frame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equals one EEG signal sample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contain X and Y, where X is the number of features and Y is the target.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an extra index unnamed column.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and duplicate values for data cleaning.</a:t>
            </a:r>
          </a:p>
        </p:txBody>
      </p:sp>
    </p:spTree>
    <p:extLst>
      <p:ext uri="{BB962C8B-B14F-4D97-AF65-F5344CB8AC3E}">
        <p14:creationId xmlns:p14="http://schemas.microsoft.com/office/powerpoint/2010/main" val="1114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5B13A8-91DF-5302-54CC-9D139C4B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 &amp; Data Splitting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EE0FBA5B-432B-BB2F-319A-8DC95B3951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 data for making range of 0-1.</a:t>
                </a:r>
              </a:p>
              <a:p>
                <a:r>
                  <a:rPr lang="en-GB" dirty="0" smtClean="0">
                    <a:cs typeface="Times New Roman" panose="02020603050405020304" pitchFamily="18" charset="0"/>
                  </a:rPr>
                  <a:t>                                                            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l-GR"/>
                          <m:t>μ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/>
                          <m:t>σ</m:t>
                        </m:r>
                      </m:den>
                    </m:f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Train-test ratio is 80:20, whereas training set equals to 80% and test set equals to 20%</a:t>
                </a:r>
              </a:p>
              <a:p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0FBA5B-432B-BB2F-319A-8DC95B395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22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41635B-9AAE-8A0B-AE84-22B14A93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5B3E65-1154-D812-AA1C-80E8A19C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54622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B353C2-0DBD-0D41-FEA3-89D9E4B5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A10ECB-C208-CB6A-0411-5381F5FA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82157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Polydegree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59C187B8-AB6C-57F0-E6B5-393EBA60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5735960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694BF0A2-549C-B893-D00B-34CAB956E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585668"/>
            <a:ext cx="6312024" cy="4435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2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893AC1-7D79-143D-4B0F-935D2551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919164-5C0E-CB26-5442-C5ED9027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82157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Polydegree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A9458B8-51F1-A3C2-0937-7D0CCBFD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3"/>
            <a:ext cx="5735961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65B2C57-BCD4-0212-10BB-2E0B816EB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5279"/>
            <a:ext cx="6056209" cy="469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5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1C5DEA-047F-8BA6-D66A-8BF90BDA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82157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Polydegree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C967CD94-0EF3-D5A7-8F8C-E253609B9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451894"/>
              </p:ext>
            </p:extLst>
          </p:nvPr>
        </p:nvGraphicFramePr>
        <p:xfrm>
          <a:off x="191344" y="1828800"/>
          <a:ext cx="11809312" cy="39663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04656">
                  <a:extLst>
                    <a:ext uri="{9D8B030D-6E8A-4147-A177-3AD203B41FA5}">
                      <a16:colId xmlns="" xmlns:a16="http://schemas.microsoft.com/office/drawing/2014/main" val="890252145"/>
                    </a:ext>
                  </a:extLst>
                </a:gridCol>
                <a:gridCol w="5904656">
                  <a:extLst>
                    <a:ext uri="{9D8B030D-6E8A-4147-A177-3AD203B41FA5}">
                      <a16:colId xmlns="" xmlns:a16="http://schemas.microsoft.com/office/drawing/2014/main" val="2696800374"/>
                    </a:ext>
                  </a:extLst>
                </a:gridCol>
              </a:tblGrid>
              <a:tr h="885244"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18053061"/>
                  </a:ext>
                </a:extLst>
              </a:tr>
              <a:tr h="885244"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Precision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0.7929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60004372"/>
                  </a:ext>
                </a:extLst>
              </a:tr>
              <a:tr h="885244"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Recall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0.7896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6814412"/>
                  </a:ext>
                </a:extLst>
              </a:tr>
              <a:tr h="1176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F1 Score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0.7877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30385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5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FF786E-E6E5-6CB6-0DC0-265B7DE5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9C4972-693C-B708-CBB4-F9D90242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1988840"/>
            <a:ext cx="5235279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0648"/>
            <a:ext cx="10058400" cy="1450757"/>
          </a:xfrm>
        </p:spPr>
        <p:txBody>
          <a:bodyPr/>
          <a:lstStyle/>
          <a:p>
            <a:r>
              <a:rPr lang="en-US" dirty="0" smtClean="0"/>
              <a:t>KNN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C967CD94-0EF3-D5A7-8F8C-E253609B96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991860"/>
              </p:ext>
            </p:extLst>
          </p:nvPr>
        </p:nvGraphicFramePr>
        <p:xfrm>
          <a:off x="1127127" y="2188548"/>
          <a:ext cx="10297144" cy="36838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48572">
                  <a:extLst>
                    <a:ext uri="{9D8B030D-6E8A-4147-A177-3AD203B41FA5}">
                      <a16:colId xmlns="" xmlns:a16="http://schemas.microsoft.com/office/drawing/2014/main" val="890252145"/>
                    </a:ext>
                  </a:extLst>
                </a:gridCol>
                <a:gridCol w="5148572">
                  <a:extLst>
                    <a:ext uri="{9D8B030D-6E8A-4147-A177-3AD203B41FA5}">
                      <a16:colId xmlns="" xmlns:a16="http://schemas.microsoft.com/office/drawing/2014/main" val="2696800374"/>
                    </a:ext>
                  </a:extLst>
                </a:gridCol>
              </a:tblGrid>
              <a:tr h="791069"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75%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18053061"/>
                  </a:ext>
                </a:extLst>
              </a:tr>
              <a:tr h="791069"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Precision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0.79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60004372"/>
                  </a:ext>
                </a:extLst>
              </a:tr>
              <a:tr h="791069"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Recall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0.76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6814412"/>
                  </a:ext>
                </a:extLst>
              </a:tr>
              <a:tr h="1171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F1 Score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0.75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30385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98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FF786E-E6E5-6CB6-0DC0-265B7DE5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9C4972-693C-B708-CBB4-F9D90242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7" y="1988840"/>
            <a:ext cx="6395243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0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LSTM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machine learning models are tried according to given training pipeline for the project.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machine learning show that machine learning models are not efficient for time series data.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 learning model is used for effective learning of EEG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LSTM (Long Short-Term Memory network) is designed for: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memory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dependencies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evolution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98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Multilayer LSTM + Attention Layer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400" y="1844824"/>
            <a:ext cx="5198496" cy="4022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2348880"/>
            <a:ext cx="4601501" cy="268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02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CNN+ </a:t>
            </a:r>
            <a:r>
              <a:rPr lang="en-US" dirty="0" err="1" smtClean="0"/>
              <a:t>BiLSTM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08" y="2060848"/>
            <a:ext cx="5169360" cy="4022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466" y="2564904"/>
            <a:ext cx="4651214" cy="287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69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LSTM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GB" b="1" dirty="0"/>
              <a:t>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C967CD94-0EF3-D5A7-8F8C-E253609B96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7226475"/>
              </p:ext>
            </p:extLst>
          </p:nvPr>
        </p:nvGraphicFramePr>
        <p:xfrm>
          <a:off x="1127127" y="2188548"/>
          <a:ext cx="10297144" cy="36838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48572">
                  <a:extLst>
                    <a:ext uri="{9D8B030D-6E8A-4147-A177-3AD203B41FA5}">
                      <a16:colId xmlns="" xmlns:a16="http://schemas.microsoft.com/office/drawing/2014/main" val="890252145"/>
                    </a:ext>
                  </a:extLst>
                </a:gridCol>
                <a:gridCol w="5148572">
                  <a:extLst>
                    <a:ext uri="{9D8B030D-6E8A-4147-A177-3AD203B41FA5}">
                      <a16:colId xmlns="" xmlns:a16="http://schemas.microsoft.com/office/drawing/2014/main" val="2696800374"/>
                    </a:ext>
                  </a:extLst>
                </a:gridCol>
              </a:tblGrid>
              <a:tr h="791069"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GB" sz="4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18053061"/>
                  </a:ext>
                </a:extLst>
              </a:tr>
              <a:tr h="791069"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Precision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60004372"/>
                  </a:ext>
                </a:extLst>
              </a:tr>
              <a:tr h="791069">
                <a:tc>
                  <a:txBody>
                    <a:bodyPr/>
                    <a:lstStyle/>
                    <a:p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Recall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6814412"/>
                  </a:ext>
                </a:extLst>
              </a:tr>
              <a:tr h="1171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F1 Score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GB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GB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30385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332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LSTM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416" y="1940301"/>
            <a:ext cx="4704252" cy="4129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893" y="3140968"/>
            <a:ext cx="4972744" cy="21053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2442526"/>
            <a:ext cx="4725059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5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66" y="2144902"/>
            <a:ext cx="5718582" cy="39718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2276872"/>
            <a:ext cx="5663952" cy="37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1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550568" cy="2286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3831" y="1412776"/>
            <a:ext cx="6264697" cy="4464496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robust preprocessing, advanced signal analysis, discriminative feature extraction, and reliable classification techniques, the proposed framework aims to support clinical decision-making.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this automated classification system can support more accurate and timely diagnosis and intervention, enhancing the overall management of epilepsy.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7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6160" y="1988840"/>
            <a:ext cx="4655840" cy="1752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pic>
        <p:nvPicPr>
          <p:cNvPr id="3074" name="Picture 2" descr="100+ Alternative Ways to Say &quot;Thank You!&quot; - HubPages">
            <a:extLst>
              <a:ext uri="{FF2B5EF4-FFF2-40B4-BE49-F238E27FC236}">
                <a16:creationId xmlns="" xmlns:a16="http://schemas.microsoft.com/office/drawing/2014/main" id="{CE7A250F-2D06-E9D8-6A54-DB804A405AA2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8750"/>
          <a:stretch>
            <a:fillRect/>
          </a:stretch>
        </p:blipFill>
        <p:spPr bwMode="auto">
          <a:xfrm>
            <a:off x="15" y="0"/>
            <a:ext cx="12191985" cy="491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968208" y="2348880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/>
              <a:t>Thank You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0492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8F0C87-9749-849B-E1E0-AC3D11E2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27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344" y="1844824"/>
            <a:ext cx="5472608" cy="4284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267" y="2348880"/>
            <a:ext cx="4540413" cy="360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8F0C87-9749-849B-E1E0-AC3D11E2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27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020" y="2060848"/>
            <a:ext cx="8280920" cy="39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9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646</TotalTime>
  <Words>540</Words>
  <Application>Microsoft Office PowerPoint</Application>
  <PresentationFormat>Widescreen</PresentationFormat>
  <Paragraphs>93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Calibri Light</vt:lpstr>
      <vt:lpstr>Cambria Math</vt:lpstr>
      <vt:lpstr>Franklin Gothic Medium</vt:lpstr>
      <vt:lpstr>Times New Roman</vt:lpstr>
      <vt:lpstr>Retrospect</vt:lpstr>
      <vt:lpstr>Feature Extraction for EEG Epileptic Seizure Detection and Classification</vt:lpstr>
      <vt:lpstr>INTRODUCTION</vt:lpstr>
      <vt:lpstr>OBJECTIVES</vt:lpstr>
      <vt:lpstr>DATASET DESCRIPTION</vt:lpstr>
      <vt:lpstr>FLOWCHART</vt:lpstr>
      <vt:lpstr>Dataset Description Graph(s)</vt:lpstr>
      <vt:lpstr>Data Preprocessing </vt:lpstr>
      <vt:lpstr>Data Normalization &amp; Data Splitting  </vt:lpstr>
      <vt:lpstr>RESULTS</vt:lpstr>
      <vt:lpstr>SVM Polydegree 3</vt:lpstr>
      <vt:lpstr>SVM Polydegree 3</vt:lpstr>
      <vt:lpstr>SVM Polydegree</vt:lpstr>
      <vt:lpstr>KNN 1</vt:lpstr>
      <vt:lpstr>KNN 1</vt:lpstr>
      <vt:lpstr>KNN 1</vt:lpstr>
      <vt:lpstr>Attention-Based LSTM </vt:lpstr>
      <vt:lpstr>Multilayer LSTM + Attention Layer</vt:lpstr>
      <vt:lpstr>CNN+ BiLSTM</vt:lpstr>
      <vt:lpstr>Attention-Based LSTM </vt:lpstr>
      <vt:lpstr>Attention-Based LSTM</vt:lpstr>
      <vt:lpstr>Graphical Analysis</vt:lpstr>
      <vt:lpstr>CONCLUSION</vt:lpstr>
      <vt:lpstr>TEAM MEMBERS</vt:lpstr>
      <vt:lpstr>KNN 27</vt:lpstr>
      <vt:lpstr>KNN 27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for EEG Epileptic Seizure Detection and Classification</dc:title>
  <dc:creator>fatima shahid</dc:creator>
  <cp:lastModifiedBy>hp</cp:lastModifiedBy>
  <cp:revision>36</cp:revision>
  <dcterms:created xsi:type="dcterms:W3CDTF">2026-03-10T15:03:44Z</dcterms:created>
  <dcterms:modified xsi:type="dcterms:W3CDTF">2026-05-08T04:16:31Z</dcterms:modified>
</cp:coreProperties>
</file>